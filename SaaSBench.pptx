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HUD FRONTIER / RSI · RL ENVIRONMENTS HACKATHON — HUD W25 × YC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6800" b="1">
                <a:solidFill>
                  <a:srgbClr val="FFFFFF"/>
                </a:solidFill>
                <a:latin typeface="Arial"/>
              </a:rPr>
              <a:t>SaaSBench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9AA0B0"/>
                </a:solidFill>
                <a:latin typeface="Arial"/>
              </a:rPr>
              <a:t>A verifiable RL environment where an agent — or a team of agents — runs a SaaS company against </a:t>
            </a:r>
            <a:r>
              <a:rPr sz="1900" b="1">
                <a:solidFill>
                  <a:srgbClr val="38EF7D"/>
                </a:solidFill>
                <a:latin typeface="Arial"/>
              </a:rPr>
              <a:t>up to 500,000 heterogeneous customers, graded entirely on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50208"/>
            <a:ext cx="29992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8EF7D"/>
                </a:solidFill>
                <a:latin typeface="Arial"/>
              </a:rPr>
              <a:t>+260%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99923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084"/>
                </a:solidFill>
                <a:latin typeface="Arial"/>
              </a:rPr>
              <a:t>held-out profit-efficiency after GRPO on an open 8B model (0.147 → 0.529)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79476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950208"/>
            <a:ext cx="29992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4572000"/>
            <a:ext cx="299923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084"/>
                </a:solidFill>
                <a:latin typeface="Arial"/>
              </a:rPr>
              <a:t>of an achievable expert is all the best scripted heuristic reaches — wide-open RL headroom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7848" y="3794760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3950208"/>
            <a:ext cx="29992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572000"/>
            <a:ext cx="299923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084"/>
                </a:solidFill>
                <a:latin typeface="Arial"/>
              </a:rPr>
              <a:t>LLM judges — profit is computed exactly by a 500,000-user market 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Verifiable &amp; ungameable     Domain-randomized     Trainable — the curve bends     Live on HUD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01 ·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RL has math and code. It doesn't have </a:t>
            </a:r>
            <a:r>
              <a:rPr sz="3400" b="1">
                <a:solidFill>
                  <a:srgbClr val="38EF7D"/>
                </a:solidFill>
                <a:latin typeface="Arial"/>
              </a:rPr>
              <a:t>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AA0B0"/>
                </a:solidFill>
                <a:latin typeface="Arial"/>
              </a:rPr>
              <a:t>Frontier RL rewards provable answers — theorems, unit tests, won games. The most valuable agentic skill of all — running a business — has no verifiable gym. Grading “good strategy” with an LLM judge is noisy and gameable.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6324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7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D6D8DE"/>
                </a:solidFill>
                <a:latin typeface="Arial"/>
              </a:rPr>
              <a:t>💡  Profit is the perfect reward — a single number a simulator computes </a:t>
            </a:r>
            <a:r>
              <a:rPr sz="1700" b="1">
                <a:solidFill>
                  <a:srgbClr val="38EF7D"/>
                </a:solidFill>
                <a:latin typeface="Arial"/>
              </a:rPr>
              <a:t>exactly</a:t>
            </a:r>
            <a:r>
              <a:rPr sz="1700" b="1">
                <a:solidFill>
                  <a:srgbClr val="D6D8DE"/>
                </a:solidFill>
                <a:latin typeface="Arial"/>
              </a:rPr>
              <a:t>. Impossible to fake, and it only goes up if the agent truly understands the market.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434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544568"/>
            <a:ext cx="295351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🎯 Economically real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The task is the job — discovery, allocation, pricing under uncertainty.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43434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4544568"/>
            <a:ext cx="295351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🔒 Verifiable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Reward computed by a deterministic market sim. No judge to persuade.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7848" y="43434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4544568"/>
            <a:ext cx="295351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🧭 Open-ended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Hidden latent structure forces genuine explore-then-exploit.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02 · THE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Not a demand curve — a market that </a:t>
            </a:r>
            <a:r>
              <a:rPr sz="3000" b="1">
                <a:solidFill>
                  <a:srgbClr val="38EF7D"/>
                </a:solidFill>
                <a:latin typeface="Arial"/>
              </a:rPr>
              <a:t>behaves like a real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9AA0B0"/>
                </a:solidFill>
                <a:latin typeface="Arial"/>
              </a:rPr>
              <a:t>An agent — or a team — operates a SaaS against up to 500,000 heterogeneous customers, hidden inside a fresh randomized market each episode, learned over ~16 rounds.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9748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898648"/>
            <a:ext cx="4800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👥  Users — a population, not a curve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their pains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willingness-to-pay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price elasticity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reachable channel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quality bar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loyalty / churn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+ per-user noise — no two alike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69748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2898648"/>
            <a:ext cx="4800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🛠️  Actions — an operator's toolkit, not a price dial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run user research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choose pains to target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write ad copy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allocate budget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set pricing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build features via product specs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manage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03 · WHY IT'S A REAL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Execution-based reward. </a:t>
            </a:r>
            <a:r>
              <a:rPr sz="3400" b="1">
                <a:solidFill>
                  <a:srgbClr val="38EF7D"/>
                </a:solidFill>
                <a:latin typeface="Arial"/>
              </a:rPr>
              <a:t>Nothing to fake.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87752" cy="17830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075688"/>
            <a:ext cx="2084832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⚖️ No LLM judge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The sim computes profit from a 500k-user funnel. Can't argue your way to a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74519"/>
            <a:ext cx="2587752" cy="17830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2075688"/>
            <a:ext cx="2084832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📐 Honest [0,1]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reward = profit ÷ a theoretical ceiling — a true upper bound, not a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2587752" cy="17830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2075688"/>
            <a:ext cx="2084832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🎲 Domain-randomized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New hidden world each episode. Generalization on held-out seeds.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874519"/>
            <a:ext cx="2587752" cy="17830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075688"/>
            <a:ext cx="2084832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🧩 Matched-quad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Every latent has an action, an observation, and a reward — learnable + graded.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10789920" cy="17830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194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8EF7D"/>
                </a:solidFill>
                <a:latin typeface="Arial"/>
              </a:rPr>
              <a:t>6 / 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084"/>
                </a:solidFill>
                <a:latin typeface="Arial"/>
              </a:rPr>
              <a:t>ablation configs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114800"/>
            <a:ext cx="76809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The ablation gate proves every latent is discoverable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0B0"/>
                </a:solidFill>
                <a:latin typeface="Arial"/>
              </a:rPr>
              <a:t>A scripted experimenter must beat a naïve baseline and stay under an informed oracle (naive &lt; scripted &lt; oracle) — for v1, every single latent, and the full stack. If a latent ever became unobservable, the gate fails loudly, by construction.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04 · HEADROOM — IT'S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 scripted expert captures </a:t>
            </a:r>
            <a:r>
              <a:rPr sz="3000" b="1">
                <a:solidFill>
                  <a:srgbClr val="38EF7D"/>
                </a:solidFill>
                <a:latin typeface="Arial"/>
              </a:rPr>
              <a:t>7% </a:t>
            </a:r>
            <a:r>
              <a:rPr sz="3000" b="1">
                <a:solidFill>
                  <a:srgbClr val="FFFFFF"/>
                </a:solidFill>
                <a:latin typeface="Arial"/>
              </a:rPr>
              <a:t>of what's achievable.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AA0B0"/>
                </a:solidFill>
                <a:latin typeface="Arial"/>
              </a:rPr>
              <a:t>10 held-out seeds, full market · reward = profit ÷ theoretical ceiling.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naive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233172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06040" y="2331720"/>
            <a:ext cx="91440" cy="274320"/>
          </a:xfrm>
          <a:prstGeom prst="roundRect">
            <a:avLst>
              <a:gd name="adj" fmla="val 50000"/>
            </a:avLst>
          </a:prstGeom>
          <a:solidFill>
            <a:srgbClr val="6B7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41848" y="228600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084"/>
                </a:solidFill>
                <a:latin typeface="Arial"/>
              </a:rPr>
              <a:t>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scripted expert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0720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6040" y="2807208"/>
            <a:ext cx="108264" cy="274320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2761488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36976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oracle (achievable)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282696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6040" y="3282696"/>
            <a:ext cx="1629826" cy="274320"/>
          </a:xfrm>
          <a:prstGeom prst="roundRect">
            <a:avLst>
              <a:gd name="adj" fmla="val 50000"/>
            </a:avLst>
          </a:prstGeom>
          <a:solidFill>
            <a:srgbClr val="48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3236976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8C8FF"/>
                </a:solidFill>
                <a:latin typeface="Arial"/>
              </a:rPr>
              <a:t>55.7%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12463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theoretical ceiling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3758183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06040" y="3758183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38E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3712463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8EF7D"/>
                </a:solidFill>
                <a:latin typeface="Arial"/>
              </a:rP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194560"/>
            <a:ext cx="4754880" cy="23317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30428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It also separates frontier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6517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084"/>
                </a:solidFill>
                <a:latin typeface="Arial"/>
              </a:rPr>
              <a:t>seed 42 · % of ceiling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2608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GPT-5.5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59" y="2971800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6759" y="2971800"/>
            <a:ext cx="828720" cy="164592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7" y="292608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47.7%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172968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GPT-5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59" y="3218688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66759" y="3218688"/>
            <a:ext cx="502097" cy="164592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7" y="3172968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28.9%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41985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Gemini 3.5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59" y="3465576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59" y="3465576"/>
            <a:ext cx="194584" cy="164592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7" y="3419856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11.2%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666744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Qwen3-8B · RL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59" y="3712464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59" y="3712464"/>
            <a:ext cx="91440" cy="164592"/>
          </a:xfrm>
          <a:prstGeom prst="roundRect">
            <a:avLst>
              <a:gd name="adj" fmla="val 50000"/>
            </a:avLst>
          </a:prstGeom>
          <a:solidFill>
            <a:srgbClr val="38E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13847" y="366674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8EF7D"/>
                </a:solidFill>
                <a:latin typeface="Arial"/>
              </a:rPr>
              <a:t>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91363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Claude Sonnet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59" y="3959352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66759" y="3959352"/>
            <a:ext cx="91440" cy="164592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3847" y="3913632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4.7%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16052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Opus 4.8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59" y="4206240"/>
            <a:ext cx="1737360" cy="164592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66759" y="4206240"/>
            <a:ext cx="91440" cy="164592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13847" y="416052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1.8%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4892040"/>
            <a:ext cx="10789920" cy="9601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7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0292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8EF7D"/>
                </a:solidFill>
                <a:latin typeface="Arial"/>
              </a:rPr>
              <a:t>Key finding:  </a:t>
            </a:r>
            <a:r>
              <a:rPr sz="1400" b="0">
                <a:solidFill>
                  <a:srgbClr val="D6D8DE"/>
                </a:solidFill>
                <a:latin typeface="Arial"/>
              </a:rPr>
              <a:t>product-market fit dominates — agents that under-invest in learning the market fail, even with strong pricing or marketing. Discovery is the binding skill.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05 · THE PROOF — REAL RL, NOT SFT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We trained an 8B model to run a better firm — and it </a:t>
            </a:r>
            <a:r>
              <a:rPr sz="2800" b="1">
                <a:solidFill>
                  <a:srgbClr val="38EF7D"/>
                </a:solidFill>
                <a:latin typeface="Arial"/>
              </a:rPr>
              <a:t>generalized.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84831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A0B0"/>
                </a:solidFill>
                <a:latin typeface="Arial"/>
              </a:rPr>
              <a:t>GRPO training — reward / epoch (in-distribution)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epoch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97480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2697480"/>
            <a:ext cx="965606" cy="274320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76088" y="265176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8BFF"/>
                </a:solidFill>
                <a:latin typeface="Arial"/>
              </a:rPr>
              <a:t>0.193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epoch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200400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3200400"/>
            <a:ext cx="1538935" cy="274320"/>
          </a:xfrm>
          <a:prstGeom prst="roundRect">
            <a:avLst>
              <a:gd name="adj" fmla="val 50000"/>
            </a:avLst>
          </a:prstGeom>
          <a:solidFill>
            <a:srgbClr val="48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315468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8C8FF"/>
                </a:solidFill>
                <a:latin typeface="Arial"/>
              </a:rPr>
              <a:t>0.307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epoch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3703320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48840" y="3703320"/>
            <a:ext cx="1840687" cy="274320"/>
          </a:xfrm>
          <a:prstGeom prst="roundRect">
            <a:avLst>
              <a:gd name="adj" fmla="val 50000"/>
            </a:avLst>
          </a:prstGeom>
          <a:solidFill>
            <a:srgbClr val="38E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365760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8EF7D"/>
                </a:solidFill>
                <a:latin typeface="Arial"/>
              </a:rPr>
              <a:t>0.367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262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D8DE"/>
                </a:solidFill>
                <a:latin typeface="Arial"/>
              </a:rPr>
              <a:t>Monotonic  0.193 → 0.367  </a:t>
            </a:r>
            <a:r>
              <a:rPr sz="1300" b="1">
                <a:solidFill>
                  <a:srgbClr val="38EF7D"/>
                </a:solidFill>
                <a:latin typeface="Arial"/>
              </a:rPr>
              <a:t>(+91%)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92024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1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A0B0"/>
                </a:solidFill>
                <a:latin typeface="Arial"/>
              </a:rPr>
              <a:t>Held-out generalization — 16 unseen worlds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9748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base 8B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19" y="27432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18119" y="2743200"/>
            <a:ext cx="627278" cy="310896"/>
          </a:xfrm>
          <a:prstGeom prst="roundRect">
            <a:avLst>
              <a:gd name="adj" fmla="val 50000"/>
            </a:avLst>
          </a:prstGeom>
          <a:solidFill>
            <a:srgbClr val="7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88167" y="269748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A0B0"/>
                </a:solidFill>
                <a:latin typeface="Arial"/>
              </a:rPr>
              <a:t>0.147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4612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after GRPO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19" y="329184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0E1018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19" y="3291840"/>
            <a:ext cx="2253081" cy="310896"/>
          </a:xfrm>
          <a:prstGeom prst="roundRect">
            <a:avLst>
              <a:gd name="adj" fmla="val 50000"/>
            </a:avLst>
          </a:prstGeom>
          <a:solidFill>
            <a:srgbClr val="38E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88167" y="324612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8EF7D"/>
                </a:solidFill>
                <a:latin typeface="Arial"/>
              </a:rPr>
              <a:t>0.529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862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8EF7D"/>
                </a:solidFill>
                <a:latin typeface="Arial"/>
              </a:rPr>
              <a:t>+260%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084"/>
                </a:solidFill>
                <a:latin typeface="Arial"/>
              </a:rPr>
              <a:t>on worlds it never trained 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94960"/>
            <a:ext cx="10789920" cy="8686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229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EF7D"/>
                </a:solidFill>
                <a:latin typeface="Arial"/>
              </a:rPr>
              <a:t>Why it's RL, not SFT:  </a:t>
            </a:r>
            <a:r>
              <a:rPr sz="1300" b="0">
                <a:solidFill>
                  <a:srgbClr val="D6D8DE"/>
                </a:solidFill>
                <a:latin typeface="Arial"/>
              </a:rPr>
              <a:t>GRPO on Fireworks — the profit verifier weights the gradient (8 candidates/prompt, KL-regularized), it doesn't just filter a dataset. Ungameable end to end.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06 · TWO MODES — SOLO FOUNDER OR FULL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Solo founder, or a </a:t>
            </a:r>
            <a:r>
              <a:rPr sz="3400" b="1">
                <a:solidFill>
                  <a:srgbClr val="38EF7D"/>
                </a:solidFill>
                <a:latin typeface="Arial"/>
              </a:rPr>
              <a:t>whole company.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9AA0B0"/>
                </a:solidFill>
                <a:latin typeface="Arial"/>
              </a:rPr>
              <a:t>Run SaaSBench with one agent, or as a team of role-agents that each see only their slice and must communicate to win — the same execution-based profit reward drives both modes.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974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898648"/>
            <a:ext cx="2084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🛠️ Builder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Picks &amp; specs features.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Must tell the team what it built.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6974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898648"/>
            <a:ext cx="2084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📣 Marketer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Targets pains × channels,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writes ad copy, spends budget.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6974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2898648"/>
            <a:ext cx="2084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🏷️ Pricer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Sets price for conversion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vs churn — the LTV lever.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6974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2898648"/>
            <a:ext cx="2084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🧭 Coordinator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Allocates budget, sets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direction, commits the 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7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98848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📉 A coordination tax — new skill, same rigor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Roles see partial views &amp; must share what they learn.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Grade team profit vs a single-agent full-info oracle — the gap is the cost of poor coordination.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Still execution-based, still ungameable.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9768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498848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🧠 One checkpoint, four roles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Not four models — one shared policy, role-conditioned by prompt.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Every role-turn shares the team's profit reward; GRPO over the pooled turns.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Parameter sharing — the only sane shape for cooperative LLM agents.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C8BFF"/>
                </a:solidFill>
                <a:latin typeface="Arial"/>
              </a:rPr>
              <a:t>07 · SHIPPED — RUNNABLE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Deployed on HUD. </a:t>
            </a:r>
            <a:r>
              <a:rPr sz="3400" b="1">
                <a:solidFill>
                  <a:srgbClr val="38EF7D"/>
                </a:solidFill>
                <a:latin typeface="Arial"/>
              </a:rPr>
              <a:t>Run it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075688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🚀 Live environment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Full env on HUD with 6 MCP tools.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Evaluate any frontier model — or our fine-tuned checkpoint.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hud eval tasks.py claude --task-ids market_discovery_seed42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74519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2A2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2075688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🎬 Inspect every run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Replay viewer steps through any episode — campaigns, features, profit curve.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7084"/>
                </a:solidFill>
                <a:latin typeface="Arial"/>
              </a:rPr>
              <a:t>•  </a:t>
            </a:r>
            <a:r>
              <a:rPr sz="1150" b="0">
                <a:solidFill>
                  <a:srgbClr val="9AA0B0"/>
                </a:solidFill>
                <a:latin typeface="Arial"/>
              </a:rPr>
              <a:t>Model leaderboard + a world explorer for the hidden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084"/>
                </a:solidFill>
                <a:latin typeface="Arial"/>
              </a:rPr>
              <a:t>BUILT ON THE SPONSOR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A0B0"/>
                </a:solidFill>
                <a:latin typeface="Arial"/>
              </a:rPr>
              <a:t>HUD — host + on-policy RL (hud.train)     Fireworks — inference + GRPO     OpenAI · Anthropic · Google — leaderboard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00600"/>
            <a:ext cx="10789920" cy="1325880"/>
          </a:xfrm>
          <a:prstGeom prst="roundRect">
            <a:avLst>
              <a:gd name="adj" fmla="val 6000"/>
            </a:avLst>
          </a:prstGeom>
          <a:solidFill>
            <a:srgbClr val="151820"/>
          </a:solidFill>
          <a:ln w="12700">
            <a:solidFill>
              <a:srgbClr val="7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10789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 benchmark where “make the number go up” means “build a better business.”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8EF7D"/>
                </a:solidFill>
                <a:latin typeface="Arial"/>
              </a:rPr>
              <a:t>Verifiable. Trainable. And far from solved.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SaaSBench  ·  github.com/Bennyoooo/firmbench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084"/>
                </a:solidFill>
                <a:latin typeface="Arial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